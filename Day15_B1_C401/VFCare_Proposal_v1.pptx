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B1-4DEB-A68E-5B246E17FBF0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B1-4DEB-A68E-5B246E17FBF0}"/>
              </c:ext>
            </c:extLst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B1-4DEB-A68E-5B246E17FBF0}"/>
              </c:ext>
            </c:extLst>
          </c:dPt>
          <c:dPt>
            <c:idx val="3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B1-4DEB-A68E-5B246E17FB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B1-4DEB-A68E-5B246E17FB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B1-4DEB-A68E-5B246E17FB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B1-4DEB-A68E-5B246E17FB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CB1-4DEB-A68E-5B246E17FB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Human review</c:v>
                </c:pt>
                <c:pt idx="1">
                  <c:v>Compute + Storage + Monitoring</c:v>
                </c:pt>
                <c:pt idx="2">
                  <c:v>Retraining pipeline</c:v>
                </c:pt>
                <c:pt idx="3">
                  <c:v>Token API (LLM)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2.5</c:v>
                </c:pt>
                <c:pt idx="2">
                  <c:v>1.7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B1-4DEB-A68E-5B246E17F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941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ENTERPRISE AI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887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VFCare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dự đoán &amp; đặt lịch bảo dưỡng xe VinFast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109728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xe VinFast bận rộn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Operator fleet (XanhSM)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056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sót lịch bảo dưỡng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Hỏng xe, mất niềm tin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38160" y="4206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38160" y="4526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Augmentation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+ đặt lịch proactive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B1-C401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Bài toán: ai đau, đau gì, tại sao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bài toán thiếu thông tin — là bài toán thiếu thời gian và thiếu trust vào thời điểm ra quyết định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75488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3152" cy="47548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&amp; NỖI ĐAU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544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Chủ xe VinFast bận rộn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/ lùi lịch bảo dưỡng định kỳ → xe xuống cấp âm thầm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biết xe có lỗi thật hay chỉ cảnh báo nhiễu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xưởng mất thời gian, nhiều bước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Hỏng xe giữa đường → mất an toàn + chi phí đột xuất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4846320"/>
            <a:ext cx="4983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5212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VinFast là OEM có telemetry thời gian thực. XanhSM vận hành hàng nghìn xe tập trung — enterprise customer điển hình </a:t>
            </a:r>
            <a:r>
              <a:rPr lang="en-US" sz="110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0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vi-V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Telemetry</a:t>
            </a:r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là dữ liệu được các cảm biến trên xe tự động thu thập rồi gửi về </a:t>
            </a:r>
            <a:r>
              <a:rPr lang="vi-VN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r>
              <a:rPr lang="vi-VN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 kết nối mạng — không cần con người can thiệp.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63640" y="1645920"/>
            <a:ext cx="5532120" cy="475488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9659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CẬN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69480" y="2194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Augmentation,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không Automation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675120" y="274320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proactive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đúng thời điểm dựa trên telemetry + hành vi lái, không phải lịch cứng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gần không ma sát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tự động: check slot → book → confirm, user chỉ approve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giữ quyền quyết định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gợi ý, không tự hành động — phù hợp với tài sản giá trị cao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chạy được ≠ Enterprise deploy được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ràng buộc lớn nhất định hình toàn bộ kiến trúc hệ thống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7033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208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Sovereignty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13/2023/NĐ-CP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9319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cá nhân của user VN (GPS, hành vi lái, định danh) phải lưu tại VN.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5120640"/>
            <a:ext cx="3063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5212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5440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được cloud API trực tiếp với raw PII. Phải anonymize trước khi gọi LLM.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160020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480560" y="1600200"/>
            <a:ext cx="37033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00600" y="192024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020824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0060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02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0060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80060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AI decision phải log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39319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xe hỏng sau khi AI báo 'chưa cần bảo dưỡng' → cần bằng chứng xử lý khiếu nại.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00600" y="5120640"/>
            <a:ext cx="3063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937760" y="5212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937760" y="5440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pipeline phải design từ đầu, không thể thêm sau. Retention dài hạn.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412480" y="160020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412480" y="1600200"/>
            <a:ext cx="370332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732520" y="1920240"/>
            <a:ext cx="640080" cy="64008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2020824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732520" y="2697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RÀNG BUỘC 03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873252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Integration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8732520" y="34747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ERP + hệ thống xưởng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732520" y="39319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VinFast đã có hệ thống đặt lịch, kho phụ tùng, CRM — không thể yêu cầu rebuild.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8732520" y="5120640"/>
            <a:ext cx="3063240" cy="118872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8869680" y="52120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869680" y="54406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integration layer, xử lý timeout/error, 2-way handshake với xưởng.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6537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ràng buộc này tự nó đã loại bỏ một trong các lựa chọn triển khai 'đơn giản' (pure cloud, pure on-prem, greenfield build).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Kiến trúc đề xuất: Hybrid có chủ đích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nhạy cảm ở lại trong biên giới; inference co giãn theo peak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114800"/>
          </a:xfrm>
          <a:prstGeom prst="rect">
            <a:avLst/>
          </a:prstGeom>
          <a:solidFill>
            <a:srgbClr val="1D3557"/>
          </a:solidFill>
          <a:ln/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PRIVATE CLOUD (VN)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173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dữ liệu nhạy cảm ở lại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0632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2926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hành vi lái (PII)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4300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VinFast · định danh user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(retention dài hạn)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457200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43000" y="4434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layer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507492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43000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với ERP / hệ thống xưởng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3657600"/>
            <a:ext cx="822960" cy="457200"/>
          </a:xfrm>
          <a:prstGeom prst="rightArrow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629400" y="1691640"/>
            <a:ext cx="5029200" cy="4114800"/>
          </a:xfrm>
          <a:prstGeom prst="rect">
            <a:avLst/>
          </a:prstGeom>
          <a:solidFill>
            <a:srgbClr val="028090"/>
          </a:solidFill>
          <a:ln/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03720" y="1965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0299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4980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AI chạy — không giữ PII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995160" y="30632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7223760" y="29260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inference (Claude API)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995160" y="356616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7223760" y="3429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theo peak 7–9h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995160" y="406908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7223760" y="39319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service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995160" y="457200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223760" y="4434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backend (stateless)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995160" y="507492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223760" y="49377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chứa raw PII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548640" y="5989320"/>
            <a:ext cx="5532120" cy="6858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685800" y="60807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1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pháp lý mà không từ bỏ khả năng AI — PII không rời VN, feature vector kỹ thuật lên cloud.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6217920" y="5989320"/>
            <a:ext cx="5532120" cy="685800"/>
          </a:xfrm>
          <a:prstGeom prst="rect">
            <a:avLst/>
          </a:prstGeom>
          <a:solidFill>
            <a:srgbClr val="F8FA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55080" y="60807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2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có peak rõ rệt (sáng 7–9h) — cloud auto-scale rẻ hơn overspec on-prem cho giờ nhàn.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anatomy: token không phải cost driver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Bóc tách thực tế ở MVP (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Ước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150 lượt/ngày, fleet 500 xe)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97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$35.60</a:t>
            </a:r>
            <a:r>
              <a:rPr lang="en-US" sz="16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/ngày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6217920" y="160020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109728" cy="105156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92240" y="1737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9095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9560" y="21305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 lớn nhất ở MVP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83464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0" y="2834640"/>
            <a:ext cx="109728" cy="10515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2240" y="2971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9095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09560" y="33649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406908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217920" y="4069080"/>
            <a:ext cx="109728" cy="10515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4206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7%</a:t>
            </a:r>
            <a:endParaRPr lang="en-US" sz="3600" dirty="0"/>
          </a:p>
        </p:txBody>
      </p:sp>
      <p:sp>
        <p:nvSpPr>
          <p:cNvPr id="20" name="Text 17"/>
          <p:cNvSpPr/>
          <p:nvPr/>
        </p:nvSpPr>
        <p:spPr>
          <a:xfrm>
            <a:off x="790956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(compute + storage + monitor)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909560" y="45994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telemetry tăng mạnh nhất khi scale — tích lũy không dừng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17920" y="530352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17920" y="5303520"/>
            <a:ext cx="109728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92240" y="5440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790956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 (LLM)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909560" y="58338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nhìn trên dashboard — nhưng nhỏ nhất, và dễ kiểm soát nhất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17920" y="6355080"/>
            <a:ext cx="5532120" cy="41148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55080" y="63733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token trước khi tối ưu human review = tối ưu 4% và bỏ qua 84%.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Tối ưu có chủ đích: đúng chỗ, đúng thời điểm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chiến lược được chọn — xếp theo thứ tự áp dụng, không phải theo độ trending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039112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97480" y="2011680"/>
            <a:ext cx="1371600" cy="274320"/>
          </a:xfrm>
          <a:prstGeom prst="rect">
            <a:avLst/>
          </a:prstGeom>
          <a:solidFill>
            <a:srgbClr val="06A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6974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NGAY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6868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Selective Inference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3227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rule-based trước khi gọi LLM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794760"/>
            <a:ext cx="3063240" cy="6858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3840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–50–65%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5176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6177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'all clear' (ODO &lt; ngưỡng, không error code) → skip LLM hoàn toàn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latency background scoring 2s → 50ms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infra mới, risk thấp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160020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1920240"/>
            <a:ext cx="731520" cy="73152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039112"/>
            <a:ext cx="493776" cy="4937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29400" y="2011680"/>
            <a:ext cx="1371600" cy="2743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62940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4–6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80060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Routing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00600" y="3227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cho task phức tạp, Haiku cho task đơn giản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00600" y="3794760"/>
            <a:ext cx="3063240" cy="6858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92040" y="3840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–55%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658368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00600" y="46177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book_appointment, cancel → Haiku (đơn giản, rẻ 4x)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run_diagnostic, explainability → Sonnet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usage data thực để route đúng — route sai thì phản tác dụng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412480" y="1600200"/>
            <a:ext cx="370332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732520" y="1920240"/>
            <a:ext cx="731520" cy="731520"/>
          </a:xfrm>
          <a:prstGeom prst="ellipse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2039112"/>
            <a:ext cx="493776" cy="49377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0561320" y="2011680"/>
            <a:ext cx="137160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1056132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&gt;200 XE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73252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Caching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8732520" y="3227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recommendation theo vehicle + error code + ODO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8732520" y="3794760"/>
            <a:ext cx="3063240" cy="6858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823960" y="3840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–40–70%</a:t>
            </a:r>
            <a:endParaRPr lang="en-US" sz="2600" dirty="0"/>
          </a:p>
        </p:txBody>
      </p:sp>
      <p:sp>
        <p:nvSpPr>
          <p:cNvPr id="35" name="Text 30"/>
          <p:cNvSpPr/>
          <p:nvPr/>
        </p:nvSpPr>
        <p:spPr>
          <a:xfrm>
            <a:off x="1051560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cost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732520" y="46177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xe VF8 cùng error code → 1 LLM call, 199 đọc cache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24h, invalidate khi firmware update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thấp ở fleet nhỏ → không đáng đầu tư sớm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6400800"/>
            <a:ext cx="11109960" cy="3657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85800" y="6428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CHỌN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compression (tiết kiệm $0.001/conv, không đáng engineering time)   ·   Self-hosted LLM (break-even chỉ khi &gt;5,000 conv/ngày)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Reliability: thiết kế cho failure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tình huống thực tế  ·  Phản ứng ngắn hạn + giải pháp dài hạn  ·  Fallback 3 tầng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70332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190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đột biến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417320" y="1947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sự kiện, peak 7–9h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25420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async notify, cached recommendation tạm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" y="32278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Pre-warming 6h sáng, auto-scale theo queue depth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146304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80560" y="1463040"/>
            <a:ext cx="370332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1645920"/>
            <a:ext cx="502920" cy="502920"/>
          </a:xfrm>
          <a:prstGeom prst="ellipse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1907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timeout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5349240" y="1947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down 15–60 phút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54880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54880" y="25420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+ rule-based fallback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5488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54880" y="32278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routing (Claude → GPT → Haiku self-hosted)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412480" y="1463040"/>
            <a:ext cx="3703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412480" y="1463040"/>
            <a:ext cx="370332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686800" y="1645920"/>
            <a:ext cx="502920" cy="502920"/>
          </a:xfrm>
          <a:prstGeom prst="ellipse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171907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281160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chậm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9281160" y="1947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12s thay vì &lt;2s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686800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686800" y="25420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parallel tool calls, timeout 8s + 1 retry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686800" y="3017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686800" y="322783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SLO-based auto-routing sang Haiku khi p95 &gt; 3s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3 TẦNG — KHÔNG ĐỂ CRITICAL SEVERITY BỊ BỎ SÓT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548640" y="4297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548640" y="4297680"/>
            <a:ext cx="91440" cy="1417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777240" y="4434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0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77724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Selective Inference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777240" y="5047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filter trước — skip LLM khi xe all clear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 rot="1800000">
            <a:off x="3250692" y="4933188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3364992" y="4297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3364992" y="4297680"/>
            <a:ext cx="91440" cy="1417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3593592" y="4434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3593592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Routing</a:t>
            </a:r>
            <a:endParaRPr lang="en-US" sz="1500" dirty="0"/>
          </a:p>
        </p:txBody>
      </p:sp>
      <p:sp>
        <p:nvSpPr>
          <p:cNvPr id="45" name="Text 40"/>
          <p:cNvSpPr/>
          <p:nvPr/>
        </p:nvSpPr>
        <p:spPr>
          <a:xfrm>
            <a:off x="3593592" y="5047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chậm / lỗi → Haiku (nhanh hơn 3x)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 rot="1800000">
            <a:off x="6067044" y="4933188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6181344" y="4297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3"/>
          <p:cNvSpPr/>
          <p:nvPr/>
        </p:nvSpPr>
        <p:spPr>
          <a:xfrm>
            <a:off x="6181344" y="4297680"/>
            <a:ext cx="91440" cy="14173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6409944" y="4434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6409944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Engine</a:t>
            </a:r>
            <a:endParaRPr lang="en-US" sz="1500" dirty="0"/>
          </a:p>
        </p:txBody>
      </p:sp>
      <p:sp>
        <p:nvSpPr>
          <p:cNvPr id="51" name="Text 46"/>
          <p:cNvSpPr/>
          <p:nvPr/>
        </p:nvSpPr>
        <p:spPr>
          <a:xfrm>
            <a:off x="6409944" y="5047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down → template theo severity + error code</a:t>
            </a:r>
            <a:endParaRPr lang="en-US" sz="1050" dirty="0"/>
          </a:p>
        </p:txBody>
      </p:sp>
      <p:sp>
        <p:nvSpPr>
          <p:cNvPr id="52" name="Shape 47"/>
          <p:cNvSpPr/>
          <p:nvPr/>
        </p:nvSpPr>
        <p:spPr>
          <a:xfrm rot="1800000">
            <a:off x="8883396" y="4933188"/>
            <a:ext cx="109728" cy="146304"/>
          </a:xfrm>
          <a:prstGeom prst="rtTriangl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8997696" y="42976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9"/>
          <p:cNvSpPr/>
          <p:nvPr/>
        </p:nvSpPr>
        <p:spPr>
          <a:xfrm>
            <a:off x="8997696" y="4297680"/>
            <a:ext cx="91440" cy="14173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9226296" y="4434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3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9226296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Escalation</a:t>
            </a:r>
            <a:endParaRPr lang="en-US" sz="1500" dirty="0"/>
          </a:p>
        </p:txBody>
      </p:sp>
      <p:sp>
        <p:nvSpPr>
          <p:cNvPr id="57" name="Text 52"/>
          <p:cNvSpPr/>
          <p:nvPr/>
        </p:nvSpPr>
        <p:spPr>
          <a:xfrm>
            <a:off x="9226296" y="50474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severity → hotline 1900 23 23 89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548640" y="5897880"/>
            <a:ext cx="11109960" cy="822960"/>
          </a:xfrm>
          <a:prstGeom prst="rect">
            <a:avLst/>
          </a:prstGeom>
          <a:solidFill>
            <a:srgbClr val="0A19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777240" y="5989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777240" y="6217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5%</a:t>
            </a: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phút</a:t>
            </a:r>
            <a:endParaRPr lang="en-US" sz="1400" dirty="0"/>
          </a:p>
        </p:txBody>
      </p:sp>
      <p:sp>
        <p:nvSpPr>
          <p:cNvPr id="61" name="Text 56"/>
          <p:cNvSpPr/>
          <p:nvPr/>
        </p:nvSpPr>
        <p:spPr>
          <a:xfrm>
            <a:off x="3520440" y="5989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3520440" y="6217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&lt; 60%</a:t>
            </a: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funnel vỡ</a:t>
            </a:r>
            <a:endParaRPr lang="en-US" sz="1400" dirty="0"/>
          </a:p>
        </p:txBody>
      </p:sp>
      <p:sp>
        <p:nvSpPr>
          <p:cNvPr id="63" name="Text 58"/>
          <p:cNvSpPr/>
          <p:nvPr/>
        </p:nvSpPr>
        <p:spPr>
          <a:xfrm>
            <a:off x="6263640" y="5989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6263640" y="6217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&gt; 10%</a:t>
            </a: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 flag</a:t>
            </a:r>
            <a:endParaRPr lang="en-US" sz="1400" dirty="0"/>
          </a:p>
        </p:txBody>
      </p:sp>
      <p:sp>
        <p:nvSpPr>
          <p:cNvPr id="65" name="Text 60"/>
          <p:cNvSpPr/>
          <p:nvPr/>
        </p:nvSpPr>
        <p:spPr>
          <a:xfrm>
            <a:off x="9006840" y="5989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9006840" y="6217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</a:t>
            </a: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tolerance = 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CHÚNG TÔI ĐÃ HIỂU RÕ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tốt không đến từ prompt đẹp.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Mà từ kiến trúc, cost, và fallback được thiết kế từ đầu.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4572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là lựa chọn bắt buộc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83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ở VN theo Nghị định 13/2023. Cloud inference cho scale. Không thể chọn một cái.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3383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663440" y="4206240"/>
            <a:ext cx="4572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4343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API chỉ là 4%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4983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(84%) và storage telemetry là cost driver thật. Tối ưu đúng chỗ.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338328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8503920" y="4206240"/>
            <a:ext cx="457200" cy="27432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43434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severity không được im lặng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03920" y="4983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 LLM down, rule-based + hotline vẫn phải chạm đến user. Zero silent failure.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6035040"/>
            <a:ext cx="10515600" cy="36576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Build (demo function calling) + Product Depth (user interview) song song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B1-C401  ·  VFCare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1295</Words>
  <Application>Microsoft Office PowerPoint</Application>
  <PresentationFormat>Widescreen</PresentationFormat>
  <Paragraphs>185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VFCare — AI Maintenance Proposal</dc:title>
  <dc:subject>PptxGenJS Presentation</dc:subject>
  <dc:creator>Nhóm B1-C401</dc:creator>
  <cp:lastModifiedBy>Hua Quang Linh (S.AI.20K)</cp:lastModifiedBy>
  <cp:revision>3</cp:revision>
  <dcterms:created xsi:type="dcterms:W3CDTF">2026-04-22T08:38:08Z</dcterms:created>
  <dcterms:modified xsi:type="dcterms:W3CDTF">2026-04-22T09:51:10Z</dcterms:modified>
</cp:coreProperties>
</file>