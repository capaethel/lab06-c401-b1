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D02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235440" y="914400"/>
            <a:ext cx="2560320" cy="502920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0212D"/>
                </a:solidFill>
              </a:rPr>
              <a:t>VINFAST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79" y="216307"/>
            <a:ext cx="9045787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0" b="1" dirty="0" err="1">
                <a:solidFill>
                  <a:srgbClr val="FFFFFF"/>
                </a:solidFill>
              </a:rPr>
              <a:t>VFCare</a:t>
            </a:r>
            <a:endParaRPr sz="11500" b="1" dirty="0">
              <a:solidFill>
                <a:srgbClr val="FFFFFF"/>
              </a:solidFill>
            </a:endParaRPr>
          </a:p>
          <a:p>
            <a:pPr algn="l"/>
            <a:r>
              <a:rPr sz="3200" b="0" dirty="0" err="1">
                <a:solidFill>
                  <a:srgbClr val="A8C4E8"/>
                </a:solidFill>
              </a:rPr>
              <a:t>Trợ</a:t>
            </a:r>
            <a:r>
              <a:rPr sz="3200" b="0" dirty="0">
                <a:solidFill>
                  <a:srgbClr val="A8C4E8"/>
                </a:solidFill>
              </a:rPr>
              <a:t> </a:t>
            </a:r>
            <a:r>
              <a:rPr sz="3200" b="0" dirty="0" err="1">
                <a:solidFill>
                  <a:srgbClr val="A8C4E8"/>
                </a:solidFill>
              </a:rPr>
              <a:t>lý</a:t>
            </a:r>
            <a:r>
              <a:rPr sz="3200" b="0" dirty="0">
                <a:solidFill>
                  <a:srgbClr val="A8C4E8"/>
                </a:solidFill>
              </a:rPr>
              <a:t> AI </a:t>
            </a:r>
            <a:r>
              <a:rPr sz="3200" b="0" dirty="0" err="1">
                <a:solidFill>
                  <a:srgbClr val="A8C4E8"/>
                </a:solidFill>
              </a:rPr>
              <a:t>bảo</a:t>
            </a:r>
            <a:r>
              <a:rPr sz="3200" b="0" dirty="0">
                <a:solidFill>
                  <a:srgbClr val="A8C4E8"/>
                </a:solidFill>
              </a:rPr>
              <a:t> </a:t>
            </a:r>
            <a:r>
              <a:rPr sz="3200" b="0" dirty="0" err="1">
                <a:solidFill>
                  <a:srgbClr val="A8C4E8"/>
                </a:solidFill>
              </a:rPr>
              <a:t>dưỡng</a:t>
            </a:r>
            <a:r>
              <a:rPr sz="3200" b="0" dirty="0">
                <a:solidFill>
                  <a:srgbClr val="A8C4E8"/>
                </a:solidFill>
              </a:rPr>
              <a:t> </a:t>
            </a:r>
            <a:r>
              <a:rPr sz="3200" b="0" dirty="0" err="1">
                <a:solidFill>
                  <a:srgbClr val="A8C4E8"/>
                </a:solidFill>
              </a:rPr>
              <a:t>xe</a:t>
            </a:r>
            <a:r>
              <a:rPr lang="en-US" sz="3200" dirty="0">
                <a:solidFill>
                  <a:srgbClr val="A8C4E8"/>
                </a:solidFill>
              </a:rPr>
              <a:t> </a:t>
            </a:r>
            <a:r>
              <a:rPr sz="3200" b="1" dirty="0" err="1">
                <a:solidFill>
                  <a:srgbClr val="A8C4E8"/>
                </a:solidFill>
              </a:rPr>
              <a:t>thế</a:t>
            </a:r>
            <a:r>
              <a:rPr sz="3200" b="1" dirty="0">
                <a:solidFill>
                  <a:srgbClr val="A8C4E8"/>
                </a:solidFill>
              </a:rPr>
              <a:t> </a:t>
            </a:r>
            <a:r>
              <a:rPr sz="3200" b="1" dirty="0" err="1">
                <a:solidFill>
                  <a:srgbClr val="A8C4E8"/>
                </a:solidFill>
              </a:rPr>
              <a:t>hệ</a:t>
            </a:r>
            <a:r>
              <a:rPr sz="3200" b="1" dirty="0">
                <a:solidFill>
                  <a:srgbClr val="A8C4E8"/>
                </a:solidFill>
              </a:rPr>
              <a:t> </a:t>
            </a:r>
            <a:r>
              <a:rPr sz="3200" b="1" dirty="0" err="1">
                <a:solidFill>
                  <a:srgbClr val="A8C4E8"/>
                </a:solidFill>
              </a:rPr>
              <a:t>mới</a:t>
            </a:r>
            <a:r>
              <a:rPr sz="3200" b="1" dirty="0">
                <a:solidFill>
                  <a:srgbClr val="A8C4E8"/>
                </a:solidFill>
              </a:rPr>
              <a:t> </a:t>
            </a:r>
            <a:r>
              <a:rPr sz="3200" b="1" dirty="0" err="1">
                <a:solidFill>
                  <a:srgbClr val="A8C4E8"/>
                </a:solidFill>
              </a:rPr>
              <a:t>từ</a:t>
            </a:r>
            <a:r>
              <a:rPr sz="3200" b="1" dirty="0">
                <a:solidFill>
                  <a:srgbClr val="A8C4E8"/>
                </a:solidFill>
              </a:rPr>
              <a:t> VinFast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749039"/>
            <a:ext cx="6583680" cy="731520"/>
          </a:xfrm>
          <a:prstGeom prst="rect">
            <a:avLst/>
          </a:prstGeom>
          <a:solidFill>
            <a:srgbClr val="D02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</a:rPr>
              <a:t>"Xe khỏe mỗi ngày. Chỉ một chạm."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8686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 err="1">
                <a:solidFill>
                  <a:srgbClr val="A8C4E8"/>
                </a:solidFill>
              </a:rPr>
              <a:t>Phân</a:t>
            </a:r>
            <a:r>
              <a:rPr sz="2400" b="0" dirty="0">
                <a:solidFill>
                  <a:srgbClr val="A8C4E8"/>
                </a:solidFill>
              </a:rPr>
              <a:t> </a:t>
            </a:r>
            <a:r>
              <a:rPr sz="2400" b="0" dirty="0" err="1">
                <a:solidFill>
                  <a:srgbClr val="A8C4E8"/>
                </a:solidFill>
              </a:rPr>
              <a:t>tích</a:t>
            </a:r>
            <a:r>
              <a:rPr sz="2400" b="0" dirty="0">
                <a:solidFill>
                  <a:srgbClr val="A8C4E8"/>
                </a:solidFill>
              </a:rPr>
              <a:t> </a:t>
            </a:r>
            <a:r>
              <a:rPr sz="2400" b="0" dirty="0" err="1">
                <a:solidFill>
                  <a:srgbClr val="A8C4E8"/>
                </a:solidFill>
              </a:rPr>
              <a:t>sức</a:t>
            </a:r>
            <a:r>
              <a:rPr sz="2400" b="0" dirty="0">
                <a:solidFill>
                  <a:srgbClr val="A8C4E8"/>
                </a:solidFill>
              </a:rPr>
              <a:t> </a:t>
            </a:r>
            <a:r>
              <a:rPr sz="2400" b="0" dirty="0" err="1">
                <a:solidFill>
                  <a:srgbClr val="A8C4E8"/>
                </a:solidFill>
              </a:rPr>
              <a:t>khỏe</a:t>
            </a:r>
            <a:r>
              <a:rPr sz="2400" b="0" dirty="0">
                <a:solidFill>
                  <a:srgbClr val="A8C4E8"/>
                </a:solidFill>
              </a:rPr>
              <a:t> </a:t>
            </a:r>
            <a:r>
              <a:rPr sz="2400" b="0" dirty="0" err="1">
                <a:solidFill>
                  <a:srgbClr val="A8C4E8"/>
                </a:solidFill>
              </a:rPr>
              <a:t>xe</a:t>
            </a:r>
            <a:r>
              <a:rPr sz="2400" b="0" dirty="0">
                <a:solidFill>
                  <a:srgbClr val="A8C4E8"/>
                </a:solidFill>
              </a:rPr>
              <a:t> </a:t>
            </a:r>
            <a:r>
              <a:rPr sz="2400" b="0" dirty="0" err="1">
                <a:solidFill>
                  <a:srgbClr val="A8C4E8"/>
                </a:solidFill>
              </a:rPr>
              <a:t>theo</a:t>
            </a:r>
            <a:r>
              <a:rPr sz="2400" b="0" dirty="0">
                <a:solidFill>
                  <a:srgbClr val="A8C4E8"/>
                </a:solidFill>
              </a:rPr>
              <a:t> </a:t>
            </a:r>
            <a:r>
              <a:rPr sz="2400" b="0" dirty="0" err="1">
                <a:solidFill>
                  <a:srgbClr val="A8C4E8"/>
                </a:solidFill>
              </a:rPr>
              <a:t>thời</a:t>
            </a:r>
            <a:r>
              <a:rPr sz="2400" b="0" dirty="0">
                <a:solidFill>
                  <a:srgbClr val="A8C4E8"/>
                </a:solidFill>
              </a:rPr>
              <a:t> </a:t>
            </a:r>
            <a:r>
              <a:rPr sz="2400" b="0" dirty="0" err="1">
                <a:solidFill>
                  <a:srgbClr val="A8C4E8"/>
                </a:solidFill>
              </a:rPr>
              <a:t>gian</a:t>
            </a:r>
            <a:r>
              <a:rPr sz="2400" b="0" dirty="0">
                <a:solidFill>
                  <a:srgbClr val="A8C4E8"/>
                </a:solidFill>
              </a:rPr>
              <a:t> </a:t>
            </a:r>
            <a:r>
              <a:rPr sz="2400" b="0" dirty="0" err="1">
                <a:solidFill>
                  <a:srgbClr val="A8C4E8"/>
                </a:solidFill>
              </a:rPr>
              <a:t>thực</a:t>
            </a:r>
            <a:r>
              <a:rPr sz="2400" b="0" dirty="0">
                <a:solidFill>
                  <a:srgbClr val="A8C4E8"/>
                </a:solidFill>
              </a:rPr>
              <a:t>  </a:t>
            </a:r>
            <a:endParaRPr lang="en-US" sz="2400" b="0" dirty="0">
              <a:solidFill>
                <a:srgbClr val="A8C4E8"/>
              </a:solidFill>
            </a:endParaRPr>
          </a:p>
          <a:p>
            <a:pPr algn="l"/>
            <a:r>
              <a:rPr sz="2400" b="0" dirty="0" err="1">
                <a:solidFill>
                  <a:srgbClr val="A8C4E8"/>
                </a:solidFill>
              </a:rPr>
              <a:t>Đặt</a:t>
            </a:r>
            <a:r>
              <a:rPr sz="2400" b="0" dirty="0">
                <a:solidFill>
                  <a:srgbClr val="A8C4E8"/>
                </a:solidFill>
              </a:rPr>
              <a:t> </a:t>
            </a:r>
            <a:r>
              <a:rPr sz="2400" b="0" dirty="0" err="1">
                <a:solidFill>
                  <a:srgbClr val="A8C4E8"/>
                </a:solidFill>
              </a:rPr>
              <a:t>lịch</a:t>
            </a:r>
            <a:r>
              <a:rPr sz="2400" b="0" dirty="0">
                <a:solidFill>
                  <a:srgbClr val="A8C4E8"/>
                </a:solidFill>
              </a:rPr>
              <a:t> </a:t>
            </a:r>
            <a:r>
              <a:rPr sz="2400" b="0" dirty="0" err="1">
                <a:solidFill>
                  <a:srgbClr val="A8C4E8"/>
                </a:solidFill>
              </a:rPr>
              <a:t>bảo</a:t>
            </a:r>
            <a:r>
              <a:rPr sz="2400" b="0" dirty="0">
                <a:solidFill>
                  <a:srgbClr val="A8C4E8"/>
                </a:solidFill>
              </a:rPr>
              <a:t> </a:t>
            </a:r>
            <a:r>
              <a:rPr sz="2400" b="0" dirty="0" err="1">
                <a:solidFill>
                  <a:srgbClr val="A8C4E8"/>
                </a:solidFill>
              </a:rPr>
              <a:t>dưỡng</a:t>
            </a:r>
            <a:r>
              <a:rPr sz="2400" b="0" dirty="0">
                <a:solidFill>
                  <a:srgbClr val="A8C4E8"/>
                </a:solidFill>
              </a:rPr>
              <a:t> </a:t>
            </a:r>
            <a:r>
              <a:rPr sz="2400" b="0" dirty="0" err="1">
                <a:solidFill>
                  <a:srgbClr val="A8C4E8"/>
                </a:solidFill>
              </a:rPr>
              <a:t>trong</a:t>
            </a:r>
            <a:r>
              <a:rPr sz="2400" b="0" dirty="0">
                <a:solidFill>
                  <a:srgbClr val="A8C4E8"/>
                </a:solidFill>
              </a:rPr>
              <a:t> 60 </a:t>
            </a:r>
            <a:r>
              <a:rPr sz="2400" b="0" dirty="0" err="1">
                <a:solidFill>
                  <a:srgbClr val="A8C4E8"/>
                </a:solidFill>
              </a:rPr>
              <a:t>giây</a:t>
            </a:r>
            <a:r>
              <a:rPr sz="2400" b="0" dirty="0">
                <a:solidFill>
                  <a:srgbClr val="A8C4E8"/>
                </a:solidFill>
              </a:rPr>
              <a:t>  </a:t>
            </a:r>
            <a:endParaRPr lang="en-US" sz="2400" b="0" dirty="0">
              <a:solidFill>
                <a:srgbClr val="A8C4E8"/>
              </a:solidFill>
            </a:endParaRPr>
          </a:p>
          <a:p>
            <a:pPr algn="l"/>
            <a:r>
              <a:rPr sz="2400" b="0" dirty="0">
                <a:solidFill>
                  <a:srgbClr val="A8C4E8"/>
                </a:solidFill>
              </a:rPr>
              <a:t>Powered by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1188720"/>
            <a:ext cx="2377440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dirty="0" err="1">
                <a:solidFill>
                  <a:srgbClr val="A8C4E8"/>
                </a:solidFill>
              </a:rPr>
              <a:t>Điểm</a:t>
            </a:r>
            <a:r>
              <a:rPr sz="1100" b="0" dirty="0">
                <a:solidFill>
                  <a:srgbClr val="A8C4E8"/>
                </a:solidFill>
              </a:rPr>
              <a:t> </a:t>
            </a:r>
            <a:r>
              <a:rPr sz="1100" b="0" dirty="0" err="1">
                <a:solidFill>
                  <a:srgbClr val="A8C4E8"/>
                </a:solidFill>
              </a:rPr>
              <a:t>S</a:t>
            </a:r>
            <a:r>
              <a:rPr lang="en-US" sz="1100" b="0" dirty="0" err="1">
                <a:solidFill>
                  <a:srgbClr val="A8C4E8"/>
                </a:solidFill>
              </a:rPr>
              <a:t>ức</a:t>
            </a:r>
            <a:r>
              <a:rPr lang="en-US" sz="1100" b="0" dirty="0">
                <a:solidFill>
                  <a:srgbClr val="A8C4E8"/>
                </a:solidFill>
              </a:rPr>
              <a:t> </a:t>
            </a:r>
            <a:r>
              <a:rPr lang="en-US" sz="1100" b="0" dirty="0" err="1">
                <a:solidFill>
                  <a:srgbClr val="A8C4E8"/>
                </a:solidFill>
              </a:rPr>
              <a:t>khỏe</a:t>
            </a:r>
            <a:endParaRPr sz="1100" b="0" dirty="0">
              <a:solidFill>
                <a:srgbClr val="A8C4E8"/>
              </a:solidFill>
            </a:endParaRPr>
          </a:p>
          <a:p>
            <a:pPr algn="ctr"/>
            <a:r>
              <a:rPr sz="3800" b="1" dirty="0">
                <a:solidFill>
                  <a:srgbClr val="4CD964"/>
                </a:solidFill>
              </a:rPr>
              <a:t>88/100</a:t>
            </a:r>
          </a:p>
          <a:p>
            <a:pPr algn="ctr"/>
            <a:endParaRPr sz="3800" b="1" dirty="0">
              <a:solidFill>
                <a:srgbClr val="4CD964"/>
              </a:solidFill>
            </a:endParaRPr>
          </a:p>
          <a:p>
            <a:pPr algn="l"/>
            <a:r>
              <a:rPr sz="1400" b="0" dirty="0">
                <a:solidFill>
                  <a:srgbClr val="FFFFFF"/>
                </a:solidFill>
              </a:rPr>
              <a:t>Pin     </a:t>
            </a:r>
            <a:r>
              <a:rPr sz="1400" b="0" dirty="0" err="1">
                <a:solidFill>
                  <a:srgbClr val="FFFFFF"/>
                </a:solidFill>
              </a:rPr>
              <a:t>SoH</a:t>
            </a:r>
            <a:r>
              <a:rPr sz="1400" b="0" dirty="0">
                <a:solidFill>
                  <a:srgbClr val="FFFFFF"/>
                </a:solidFill>
              </a:rPr>
              <a:t> 95%   </a:t>
            </a:r>
            <a:r>
              <a:rPr sz="1400" b="0" dirty="0" err="1">
                <a:solidFill>
                  <a:srgbClr val="FFFFFF"/>
                </a:solidFill>
              </a:rPr>
              <a:t>Tốt</a:t>
            </a:r>
            <a:endParaRPr sz="1400" b="0" dirty="0">
              <a:solidFill>
                <a:srgbClr val="FFFFFF"/>
              </a:solidFill>
            </a:endParaRPr>
          </a:p>
          <a:p>
            <a:pPr algn="l"/>
            <a:r>
              <a:rPr sz="1400" b="0" dirty="0">
                <a:solidFill>
                  <a:srgbClr val="FFFFFF"/>
                </a:solidFill>
              </a:rPr>
              <a:t>Motor   92%        </a:t>
            </a:r>
            <a:r>
              <a:rPr sz="1400" b="0" dirty="0" err="1">
                <a:solidFill>
                  <a:srgbClr val="FFFFFF"/>
                </a:solidFill>
              </a:rPr>
              <a:t>Tốt</a:t>
            </a:r>
            <a:endParaRPr sz="1400" b="0" dirty="0">
              <a:solidFill>
                <a:srgbClr val="FFFFFF"/>
              </a:solidFill>
            </a:endParaRPr>
          </a:p>
          <a:p>
            <a:pPr algn="l"/>
            <a:r>
              <a:rPr sz="1400" b="0" dirty="0">
                <a:solidFill>
                  <a:srgbClr val="FFFFFF"/>
                </a:solidFill>
              </a:rPr>
              <a:t>Phanh   75%   </a:t>
            </a:r>
            <a:r>
              <a:rPr sz="1400" b="0" dirty="0" err="1">
                <a:solidFill>
                  <a:srgbClr val="FFFFFF"/>
                </a:solidFill>
              </a:rPr>
              <a:t>Cảnh</a:t>
            </a:r>
            <a:r>
              <a:rPr sz="1400" b="0" dirty="0">
                <a:solidFill>
                  <a:srgbClr val="FFFFFF"/>
                </a:solidFill>
              </a:rPr>
              <a:t> </a:t>
            </a:r>
            <a:r>
              <a:rPr sz="1400" b="0" dirty="0" err="1">
                <a:solidFill>
                  <a:srgbClr val="FFFFFF"/>
                </a:solidFill>
              </a:rPr>
              <a:t>báo</a:t>
            </a:r>
            <a:endParaRPr sz="1400" b="0" dirty="0">
              <a:solidFill>
                <a:srgbClr val="FFFFFF"/>
              </a:solidFill>
            </a:endParaRPr>
          </a:p>
          <a:p>
            <a:pPr algn="l"/>
            <a:r>
              <a:rPr sz="1400" b="0" dirty="0">
                <a:solidFill>
                  <a:srgbClr val="FFFFFF"/>
                </a:solidFill>
              </a:rPr>
              <a:t>AC       88%   </a:t>
            </a:r>
            <a:r>
              <a:rPr sz="1400" b="0" dirty="0" err="1">
                <a:solidFill>
                  <a:srgbClr val="FFFFFF"/>
                </a:solidFill>
              </a:rPr>
              <a:t>Cảnh</a:t>
            </a:r>
            <a:r>
              <a:rPr sz="1400" b="0" dirty="0">
                <a:solidFill>
                  <a:srgbClr val="FFFFFF"/>
                </a:solidFill>
              </a:rPr>
              <a:t> </a:t>
            </a:r>
            <a:r>
              <a:rPr sz="1400" b="0" dirty="0" err="1">
                <a:solidFill>
                  <a:srgbClr val="FFFFFF"/>
                </a:solidFill>
              </a:rPr>
              <a:t>báo</a:t>
            </a:r>
            <a:endParaRPr sz="1400" b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02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0212D"/>
                </a:solidFill>
              </a:rPr>
              <a:t>VẤN ĐỀ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058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700" b="1" dirty="0" err="1">
                <a:solidFill>
                  <a:srgbClr val="1A1A2E"/>
                </a:solidFill>
              </a:rPr>
              <a:t>Phần</a:t>
            </a:r>
            <a:r>
              <a:rPr lang="en-US" sz="2700" b="1" dirty="0">
                <a:solidFill>
                  <a:srgbClr val="1A1A2E"/>
                </a:solidFill>
              </a:rPr>
              <a:t> </a:t>
            </a:r>
            <a:r>
              <a:rPr lang="en-US" sz="2700" b="1" dirty="0" err="1">
                <a:solidFill>
                  <a:srgbClr val="1A1A2E"/>
                </a:solidFill>
              </a:rPr>
              <a:t>lớn</a:t>
            </a:r>
            <a:r>
              <a:rPr lang="en-US" sz="2700" b="1" dirty="0">
                <a:solidFill>
                  <a:srgbClr val="1A1A2E"/>
                </a:solidFill>
              </a:rPr>
              <a:t> </a:t>
            </a:r>
            <a:r>
              <a:rPr sz="2700" b="1" dirty="0" err="1">
                <a:solidFill>
                  <a:srgbClr val="1A1A2E"/>
                </a:solidFill>
              </a:rPr>
              <a:t>sự</a:t>
            </a:r>
            <a:r>
              <a:rPr sz="2700" b="1" dirty="0">
                <a:solidFill>
                  <a:srgbClr val="1A1A2E"/>
                </a:solidFill>
              </a:rPr>
              <a:t> </a:t>
            </a:r>
            <a:r>
              <a:rPr sz="2700" b="1" dirty="0" err="1">
                <a:solidFill>
                  <a:srgbClr val="1A1A2E"/>
                </a:solidFill>
              </a:rPr>
              <a:t>cố</a:t>
            </a:r>
            <a:r>
              <a:rPr sz="2700" b="1" dirty="0">
                <a:solidFill>
                  <a:srgbClr val="1A1A2E"/>
                </a:solidFill>
              </a:rPr>
              <a:t> </a:t>
            </a:r>
            <a:r>
              <a:rPr sz="2700" b="1" dirty="0" err="1">
                <a:solidFill>
                  <a:srgbClr val="1A1A2E"/>
                </a:solidFill>
              </a:rPr>
              <a:t>xe</a:t>
            </a:r>
            <a:r>
              <a:rPr sz="2700" b="1" dirty="0">
                <a:solidFill>
                  <a:srgbClr val="1A1A2E"/>
                </a:solidFill>
              </a:rPr>
              <a:t> </a:t>
            </a:r>
            <a:r>
              <a:rPr lang="en-US" sz="2700" b="1" dirty="0" err="1">
                <a:solidFill>
                  <a:srgbClr val="1A1A2E"/>
                </a:solidFill>
              </a:rPr>
              <a:t>điện</a:t>
            </a:r>
            <a:r>
              <a:rPr sz="2700" b="1" dirty="0">
                <a:solidFill>
                  <a:srgbClr val="1A1A2E"/>
                </a:solidFill>
              </a:rPr>
              <a:t> </a:t>
            </a:r>
            <a:r>
              <a:rPr sz="2700" b="1" dirty="0" err="1">
                <a:solidFill>
                  <a:srgbClr val="1A1A2E"/>
                </a:solidFill>
              </a:rPr>
              <a:t>có</a:t>
            </a:r>
            <a:r>
              <a:rPr sz="2700" b="1" dirty="0">
                <a:solidFill>
                  <a:srgbClr val="1A1A2E"/>
                </a:solidFill>
              </a:rPr>
              <a:t> </a:t>
            </a:r>
            <a:r>
              <a:rPr sz="2700" b="1" dirty="0" err="1">
                <a:solidFill>
                  <a:srgbClr val="1A1A2E"/>
                </a:solidFill>
              </a:rPr>
              <a:t>thể</a:t>
            </a:r>
            <a:r>
              <a:rPr sz="2700" b="1" dirty="0">
                <a:solidFill>
                  <a:srgbClr val="1A1A2E"/>
                </a:solidFill>
              </a:rPr>
              <a:t> </a:t>
            </a:r>
            <a:r>
              <a:rPr sz="2700" b="1" dirty="0" err="1">
                <a:solidFill>
                  <a:srgbClr val="1A1A2E"/>
                </a:solidFill>
              </a:rPr>
              <a:t>dự</a:t>
            </a:r>
            <a:r>
              <a:rPr sz="2700" b="1" dirty="0">
                <a:solidFill>
                  <a:srgbClr val="1A1A2E"/>
                </a:solidFill>
              </a:rPr>
              <a:t> </a:t>
            </a:r>
            <a:r>
              <a:rPr sz="2700" b="1" dirty="0" err="1">
                <a:solidFill>
                  <a:srgbClr val="1A1A2E"/>
                </a:solidFill>
              </a:rPr>
              <a:t>báo</a:t>
            </a:r>
            <a:r>
              <a:rPr sz="2700" b="1" dirty="0">
                <a:solidFill>
                  <a:srgbClr val="1A1A2E"/>
                </a:solidFill>
              </a:rPr>
              <a:t> </a:t>
            </a:r>
            <a:r>
              <a:rPr sz="2700" b="1" dirty="0" err="1">
                <a:solidFill>
                  <a:srgbClr val="1A1A2E"/>
                </a:solidFill>
              </a:rPr>
              <a:t>trước</a:t>
            </a:r>
            <a:r>
              <a:rPr sz="2700" b="1" dirty="0">
                <a:solidFill>
                  <a:srgbClr val="1A1A2E"/>
                </a:solidFill>
              </a:rPr>
              <a:t> —</a:t>
            </a:r>
          </a:p>
          <a:p>
            <a:pPr algn="l"/>
            <a:r>
              <a:rPr sz="2700" b="0" dirty="0" err="1">
                <a:solidFill>
                  <a:srgbClr val="1A1A2E"/>
                </a:solidFill>
              </a:rPr>
              <a:t>nhưng</a:t>
            </a:r>
            <a:r>
              <a:rPr sz="2700" b="0" dirty="0">
                <a:solidFill>
                  <a:srgbClr val="1A1A2E"/>
                </a:solidFill>
              </a:rPr>
              <a:t> </a:t>
            </a:r>
            <a:r>
              <a:rPr sz="2700" b="0" dirty="0" err="1">
                <a:solidFill>
                  <a:srgbClr val="1A1A2E"/>
                </a:solidFill>
              </a:rPr>
              <a:t>hầu</a:t>
            </a:r>
            <a:r>
              <a:rPr sz="2700" b="0" dirty="0">
                <a:solidFill>
                  <a:srgbClr val="1A1A2E"/>
                </a:solidFill>
              </a:rPr>
              <a:t> </a:t>
            </a:r>
            <a:r>
              <a:rPr sz="2700" b="0" dirty="0" err="1">
                <a:solidFill>
                  <a:srgbClr val="1A1A2E"/>
                </a:solidFill>
              </a:rPr>
              <a:t>hết</a:t>
            </a:r>
            <a:r>
              <a:rPr sz="2700" b="0" dirty="0">
                <a:solidFill>
                  <a:srgbClr val="1A1A2E"/>
                </a:solidFill>
              </a:rPr>
              <a:t> </a:t>
            </a:r>
            <a:r>
              <a:rPr sz="2700" b="0" dirty="0" err="1">
                <a:solidFill>
                  <a:srgbClr val="1A1A2E"/>
                </a:solidFill>
              </a:rPr>
              <a:t>chủ</a:t>
            </a:r>
            <a:r>
              <a:rPr sz="2700" b="0" dirty="0">
                <a:solidFill>
                  <a:srgbClr val="1A1A2E"/>
                </a:solidFill>
              </a:rPr>
              <a:t> </a:t>
            </a:r>
            <a:r>
              <a:rPr sz="2700" b="0" dirty="0" err="1">
                <a:solidFill>
                  <a:srgbClr val="1A1A2E"/>
                </a:solidFill>
              </a:rPr>
              <a:t>xe</a:t>
            </a:r>
            <a:r>
              <a:rPr sz="2700" b="0" dirty="0">
                <a:solidFill>
                  <a:srgbClr val="1A1A2E"/>
                </a:solidFill>
              </a:rPr>
              <a:t> </a:t>
            </a:r>
            <a:r>
              <a:rPr sz="2700" b="0" dirty="0" err="1">
                <a:solidFill>
                  <a:srgbClr val="1A1A2E"/>
                </a:solidFill>
              </a:rPr>
              <a:t>chỉ</a:t>
            </a:r>
            <a:r>
              <a:rPr sz="2700" b="0" dirty="0">
                <a:solidFill>
                  <a:srgbClr val="1A1A2E"/>
                </a:solidFill>
              </a:rPr>
              <a:t> </a:t>
            </a:r>
            <a:r>
              <a:rPr sz="2700" b="0" dirty="0" err="1">
                <a:solidFill>
                  <a:srgbClr val="1A1A2E"/>
                </a:solidFill>
              </a:rPr>
              <a:t>phát</a:t>
            </a:r>
            <a:r>
              <a:rPr sz="2700" b="0" dirty="0">
                <a:solidFill>
                  <a:srgbClr val="1A1A2E"/>
                </a:solidFill>
              </a:rPr>
              <a:t> </a:t>
            </a:r>
            <a:r>
              <a:rPr sz="2700" b="0" dirty="0" err="1">
                <a:solidFill>
                  <a:srgbClr val="1A1A2E"/>
                </a:solidFill>
              </a:rPr>
              <a:t>hiện</a:t>
            </a:r>
            <a:r>
              <a:rPr sz="2700" b="0" dirty="0">
                <a:solidFill>
                  <a:srgbClr val="1A1A2E"/>
                </a:solidFill>
              </a:rPr>
              <a:t> </a:t>
            </a:r>
            <a:r>
              <a:rPr sz="2700" b="0" dirty="0" err="1">
                <a:solidFill>
                  <a:srgbClr val="1A1A2E"/>
                </a:solidFill>
              </a:rPr>
              <a:t>khi</a:t>
            </a:r>
            <a:r>
              <a:rPr sz="2700" b="0" dirty="0">
                <a:solidFill>
                  <a:srgbClr val="1A1A2E"/>
                </a:solidFill>
              </a:rPr>
              <a:t> </a:t>
            </a:r>
            <a:r>
              <a:rPr sz="2700" b="0" dirty="0" err="1">
                <a:solidFill>
                  <a:srgbClr val="1A1A2E"/>
                </a:solidFill>
              </a:rPr>
              <a:t>đã</a:t>
            </a:r>
            <a:r>
              <a:rPr sz="2700" b="0" dirty="0">
                <a:solidFill>
                  <a:srgbClr val="1A1A2E"/>
                </a:solidFill>
              </a:rPr>
              <a:t> </a:t>
            </a:r>
            <a:r>
              <a:rPr sz="2700" b="0" dirty="0" err="1">
                <a:solidFill>
                  <a:srgbClr val="1A1A2E"/>
                </a:solidFill>
              </a:rPr>
              <a:t>quá</a:t>
            </a:r>
            <a:r>
              <a:rPr sz="2700" b="0" dirty="0">
                <a:solidFill>
                  <a:srgbClr val="1A1A2E"/>
                </a:solidFill>
              </a:rPr>
              <a:t> </a:t>
            </a:r>
            <a:r>
              <a:rPr sz="2700" b="0" dirty="0" err="1">
                <a:solidFill>
                  <a:srgbClr val="1A1A2E"/>
                </a:solidFill>
              </a:rPr>
              <a:t>muộn</a:t>
            </a:r>
            <a:r>
              <a:rPr sz="2700" b="0" dirty="0">
                <a:solidFill>
                  <a:srgbClr val="1A1A2E"/>
                </a:solidFill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5661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566160" cy="91440"/>
          </a:xfrm>
          <a:prstGeom prst="rect">
            <a:avLst/>
          </a:prstGeom>
          <a:solidFill>
            <a:srgbClr val="D02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1A1A2E"/>
                </a:solidFill>
              </a:rPr>
              <a:t>⏳</a:t>
            </a:r>
          </a:p>
          <a:p>
            <a:pPr algn="ctr"/>
            <a:endParaRPr sz="3400" b="0">
              <a:solidFill>
                <a:srgbClr val="1A1A2E"/>
              </a:solidFill>
            </a:endParaRPr>
          </a:p>
          <a:p>
            <a:pPr algn="ctr"/>
            <a:r>
              <a:rPr sz="1700" b="1">
                <a:solidFill>
                  <a:srgbClr val="1A1A2E"/>
                </a:solidFill>
              </a:rPr>
              <a:t>Mất hàng giờ
xếp hàng</a:t>
            </a:r>
          </a:p>
          <a:p>
            <a:pPr algn="ctr"/>
            <a:endParaRPr sz="1700" b="1">
              <a:solidFill>
                <a:srgbClr val="1A1A2E"/>
              </a:solidFill>
            </a:endParaRPr>
          </a:p>
          <a:p>
            <a:pPr algn="ctr"/>
            <a:r>
              <a:rPr sz="1200" b="0">
                <a:solidFill>
                  <a:srgbClr val="6B7C93"/>
                </a:solidFill>
              </a:rPr>
              <a:t>Mỗi lần bảo dưỡng định kỳ tốn 2–4 giờ
chờ đợi tại xưởng.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5968" y="1828800"/>
            <a:ext cx="35661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15968" y="1828800"/>
            <a:ext cx="3566160" cy="91440"/>
          </a:xfrm>
          <a:prstGeom prst="rect">
            <a:avLst/>
          </a:prstGeom>
          <a:solidFill>
            <a:srgbClr val="D02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98848" y="201168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1A1A2E"/>
                </a:solidFill>
              </a:rPr>
              <a:t>❓</a:t>
            </a:r>
          </a:p>
          <a:p>
            <a:pPr algn="ctr"/>
            <a:endParaRPr sz="3400" b="0">
              <a:solidFill>
                <a:srgbClr val="1A1A2E"/>
              </a:solidFill>
            </a:endParaRPr>
          </a:p>
          <a:p>
            <a:pPr algn="ctr"/>
            <a:r>
              <a:rPr sz="1700" b="1">
                <a:solidFill>
                  <a:srgbClr val="1A1A2E"/>
                </a:solidFill>
              </a:rPr>
              <a:t>Không biết xe
đang ở tình trạng nào</a:t>
            </a:r>
          </a:p>
          <a:p>
            <a:pPr algn="ctr"/>
            <a:endParaRPr sz="1700" b="1">
              <a:solidFill>
                <a:srgbClr val="1A1A2E"/>
              </a:solidFill>
            </a:endParaRPr>
          </a:p>
          <a:p>
            <a:pPr algn="ctr"/>
            <a:r>
              <a:rPr sz="1200" b="0">
                <a:solidFill>
                  <a:srgbClr val="6B7C93"/>
                </a:solidFill>
              </a:rPr>
              <a:t>Chủ xe không có thông tin sức khỏe xe
theo thời gian thực đến khi hỏng hóc.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74736" y="1828800"/>
            <a:ext cx="35661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74736" y="1828800"/>
            <a:ext cx="3566160" cy="91440"/>
          </a:xfrm>
          <a:prstGeom prst="rect">
            <a:avLst/>
          </a:prstGeom>
          <a:solidFill>
            <a:srgbClr val="D02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57615" y="201168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1A1A2E"/>
                </a:solidFill>
              </a:rPr>
              <a:t>📞</a:t>
            </a:r>
          </a:p>
          <a:p>
            <a:pPr algn="ctr"/>
            <a:endParaRPr sz="3400" b="0">
              <a:solidFill>
                <a:srgbClr val="1A1A2E"/>
              </a:solidFill>
            </a:endParaRPr>
          </a:p>
          <a:p>
            <a:pPr algn="ctr"/>
            <a:r>
              <a:rPr sz="1700" b="1">
                <a:solidFill>
                  <a:srgbClr val="1A1A2E"/>
                </a:solidFill>
              </a:rPr>
              <a:t>Đặt lịch
rắc rối, chậm trễ</a:t>
            </a:r>
          </a:p>
          <a:p>
            <a:pPr algn="ctr"/>
            <a:endParaRPr sz="1700" b="1">
              <a:solidFill>
                <a:srgbClr val="1A1A2E"/>
              </a:solidFill>
            </a:endParaRPr>
          </a:p>
          <a:p>
            <a:pPr algn="ctr"/>
            <a:r>
              <a:rPr sz="1200" b="0">
                <a:solidFill>
                  <a:srgbClr val="6B7C93"/>
                </a:solidFill>
              </a:rPr>
              <a:t>Phải gọi điện, chờ xác nhận, dễ nhầm lịch
hoặc không có slot phù hợp.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02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0212D"/>
                </a:solidFill>
              </a:rPr>
              <a:t>GIẢI PHÁP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</a:rPr>
              <a:t>VFCare — Trợ lý AI đầu tiên tại Việt Nam lắng nghe và chăm sóc xe của bạn.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C4E8"/>
                </a:solidFill>
              </a:rPr>
              <a:t>Được phát triển bởi VinFast, VFCare phân tích hàng nghìn điểm dữ liệu từ cảm biến pin, motor, phanh, điều hòa — rồi chủ động cảnh báo và đặt lịch bảo dưỡng trước khi sự cố xảy ra.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926080"/>
            <a:ext cx="2651760" cy="338328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2926080"/>
            <a:ext cx="2651760" cy="91440"/>
          </a:xfrm>
          <a:prstGeom prst="rect">
            <a:avLst/>
          </a:prstGeom>
          <a:solidFill>
            <a:srgbClr val="D02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2468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0212D"/>
                </a:solidFill>
              </a:rPr>
              <a:t>Phân tích</a:t>
            </a:r>
          </a:p>
          <a:p>
            <a:pPr algn="ctr"/>
            <a:endParaRPr sz="1300" b="1">
              <a:solidFill>
                <a:srgbClr val="D0212D"/>
              </a:solidFill>
            </a:endParaRPr>
          </a:p>
          <a:p>
            <a:pPr algn="ctr"/>
            <a:r>
              <a:rPr sz="1500" b="1">
                <a:solidFill>
                  <a:srgbClr val="FFFFFF"/>
                </a:solidFill>
              </a:rPr>
              <a:t>Chẩn đoán
thời gian thực</a:t>
            </a:r>
          </a:p>
          <a:p>
            <a:pPr algn="ctr"/>
            <a:endParaRPr sz="1500" b="1">
              <a:solidFill>
                <a:srgbClr val="FFFFFF"/>
              </a:solidFill>
            </a:endParaRPr>
          </a:p>
          <a:p>
            <a:pPr algn="ctr"/>
            <a:r>
              <a:rPr sz="1200" b="0">
                <a:solidFill>
                  <a:srgbClr val="A8C4E8"/>
                </a:solidFill>
              </a:rPr>
              <a:t>Đọc cảm biến
trong 3 giây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926080"/>
            <a:ext cx="2651760" cy="338328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0" y="2926080"/>
            <a:ext cx="2651760" cy="91440"/>
          </a:xfrm>
          <a:prstGeom prst="rect">
            <a:avLst/>
          </a:prstGeom>
          <a:solidFill>
            <a:srgbClr val="D02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3063240"/>
            <a:ext cx="2468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0212D"/>
                </a:solidFill>
              </a:rPr>
              <a:t>Dự đoán</a:t>
            </a:r>
          </a:p>
          <a:p>
            <a:pPr algn="ctr"/>
            <a:endParaRPr sz="1300" b="1">
              <a:solidFill>
                <a:srgbClr val="D0212D"/>
              </a:solidFill>
            </a:endParaRPr>
          </a:p>
          <a:p>
            <a:pPr algn="ctr"/>
            <a:r>
              <a:rPr sz="1500" b="1">
                <a:solidFill>
                  <a:srgbClr val="FFFFFF"/>
                </a:solidFill>
              </a:rPr>
              <a:t>AI dự đoán
rủi ro</a:t>
            </a:r>
          </a:p>
          <a:p>
            <a:pPr algn="ctr"/>
            <a:endParaRPr sz="1500" b="1">
              <a:solidFill>
                <a:srgbClr val="FFFFFF"/>
              </a:solidFill>
            </a:endParaRPr>
          </a:p>
          <a:p>
            <a:pPr algn="ctr"/>
            <a:r>
              <a:rPr sz="1200" b="0">
                <a:solidFill>
                  <a:srgbClr val="A8C4E8"/>
                </a:solidFill>
              </a:rPr>
              <a:t>Cảnh báo trước
khi xe hỏng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926080"/>
            <a:ext cx="2651760" cy="338328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2926080"/>
            <a:ext cx="2651760" cy="91440"/>
          </a:xfrm>
          <a:prstGeom prst="rect">
            <a:avLst/>
          </a:prstGeom>
          <a:solidFill>
            <a:srgbClr val="D02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3063240"/>
            <a:ext cx="246888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 err="1">
                <a:solidFill>
                  <a:srgbClr val="D0212D"/>
                </a:solidFill>
              </a:rPr>
              <a:t>Đặt</a:t>
            </a:r>
            <a:r>
              <a:rPr sz="1300" b="1" dirty="0">
                <a:solidFill>
                  <a:srgbClr val="D0212D"/>
                </a:solidFill>
              </a:rPr>
              <a:t> </a:t>
            </a:r>
            <a:r>
              <a:rPr sz="1300" b="1" dirty="0" err="1">
                <a:solidFill>
                  <a:srgbClr val="D0212D"/>
                </a:solidFill>
              </a:rPr>
              <a:t>lịch</a:t>
            </a:r>
            <a:endParaRPr sz="1300" b="1" dirty="0">
              <a:solidFill>
                <a:srgbClr val="D0212D"/>
              </a:solidFill>
            </a:endParaRPr>
          </a:p>
          <a:p>
            <a:pPr algn="ctr"/>
            <a:endParaRPr sz="1300" b="1" dirty="0">
              <a:solidFill>
                <a:srgbClr val="D0212D"/>
              </a:solidFill>
            </a:endParaRPr>
          </a:p>
          <a:p>
            <a:pPr algn="ctr"/>
            <a:r>
              <a:rPr lang="en-US" sz="1500" b="1" dirty="0" err="1">
                <a:solidFill>
                  <a:srgbClr val="FFFFFF"/>
                </a:solidFill>
              </a:rPr>
              <a:t>Hỗ</a:t>
            </a:r>
            <a:r>
              <a:rPr lang="en-US" sz="1500" b="1" dirty="0">
                <a:solidFill>
                  <a:srgbClr val="FFFFFF"/>
                </a:solidFill>
              </a:rPr>
              <a:t> </a:t>
            </a:r>
            <a:r>
              <a:rPr lang="en-US" sz="1500" b="1" dirty="0" err="1">
                <a:solidFill>
                  <a:srgbClr val="FFFFFF"/>
                </a:solidFill>
              </a:rPr>
              <a:t>trợ</a:t>
            </a:r>
            <a:r>
              <a:rPr lang="en-US" sz="1500" b="1" dirty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500" b="1" dirty="0" err="1">
                <a:solidFill>
                  <a:srgbClr val="FFFFFF"/>
                </a:solidFill>
              </a:rPr>
              <a:t>Đặt</a:t>
            </a:r>
            <a:r>
              <a:rPr sz="1500" b="1" dirty="0">
                <a:solidFill>
                  <a:srgbClr val="FFFFFF"/>
                </a:solidFill>
              </a:rPr>
              <a:t> </a:t>
            </a:r>
            <a:r>
              <a:rPr sz="1500" b="1" dirty="0" err="1">
                <a:solidFill>
                  <a:srgbClr val="FFFFFF"/>
                </a:solidFill>
              </a:rPr>
              <a:t>lịch</a:t>
            </a:r>
            <a:r>
              <a:rPr sz="1500" b="1" dirty="0">
                <a:solidFill>
                  <a:srgbClr val="FFFFFF"/>
                </a:solidFill>
              </a:rPr>
              <a:t>
</a:t>
            </a:r>
            <a:r>
              <a:rPr sz="1500" b="1" dirty="0" err="1">
                <a:solidFill>
                  <a:srgbClr val="FFFFFF"/>
                </a:solidFill>
              </a:rPr>
              <a:t>tự</a:t>
            </a:r>
            <a:r>
              <a:rPr sz="1500" b="1" dirty="0">
                <a:solidFill>
                  <a:srgbClr val="FFFFFF"/>
                </a:solidFill>
              </a:rPr>
              <a:t> </a:t>
            </a:r>
            <a:r>
              <a:rPr sz="1500" b="1" dirty="0" err="1">
                <a:solidFill>
                  <a:srgbClr val="FFFFFF"/>
                </a:solidFill>
              </a:rPr>
              <a:t>động</a:t>
            </a:r>
            <a:endParaRPr sz="1500" b="1" dirty="0">
              <a:solidFill>
                <a:srgbClr val="FFFFFF"/>
              </a:solidFill>
            </a:endParaRPr>
          </a:p>
          <a:p>
            <a:pPr algn="ctr"/>
            <a:endParaRPr sz="1500" b="1" dirty="0">
              <a:solidFill>
                <a:srgbClr val="FFFFFF"/>
              </a:solidFill>
            </a:endParaRPr>
          </a:p>
          <a:p>
            <a:pPr algn="ctr"/>
            <a:r>
              <a:rPr sz="1200" b="0" dirty="0" err="1">
                <a:solidFill>
                  <a:srgbClr val="A8C4E8"/>
                </a:solidFill>
              </a:rPr>
              <a:t>Xưởng</a:t>
            </a:r>
            <a:r>
              <a:rPr sz="1200" b="0" dirty="0">
                <a:solidFill>
                  <a:srgbClr val="A8C4E8"/>
                </a:solidFill>
              </a:rPr>
              <a:t> </a:t>
            </a:r>
            <a:r>
              <a:rPr sz="1200" b="0" dirty="0" err="1">
                <a:solidFill>
                  <a:srgbClr val="A8C4E8"/>
                </a:solidFill>
              </a:rPr>
              <a:t>gần</a:t>
            </a:r>
            <a:r>
              <a:rPr sz="1200" b="0" dirty="0">
                <a:solidFill>
                  <a:srgbClr val="A8C4E8"/>
                </a:solidFill>
              </a:rPr>
              <a:t> </a:t>
            </a:r>
            <a:r>
              <a:rPr sz="1200" b="0" dirty="0" err="1">
                <a:solidFill>
                  <a:srgbClr val="A8C4E8"/>
                </a:solidFill>
              </a:rPr>
              <a:t>nhất</a:t>
            </a:r>
            <a:r>
              <a:rPr sz="1200" b="0" dirty="0">
                <a:solidFill>
                  <a:srgbClr val="A8C4E8"/>
                </a:solidFill>
              </a:rPr>
              <a:t>
</a:t>
            </a:r>
            <a:r>
              <a:rPr sz="1200" b="0" dirty="0" err="1">
                <a:solidFill>
                  <a:srgbClr val="A8C4E8"/>
                </a:solidFill>
              </a:rPr>
              <a:t>trong</a:t>
            </a:r>
            <a:r>
              <a:rPr sz="1200" b="0" dirty="0">
                <a:solidFill>
                  <a:srgbClr val="A8C4E8"/>
                </a:solidFill>
              </a:rPr>
              <a:t> 60 </a:t>
            </a:r>
            <a:r>
              <a:rPr sz="1200" b="0" dirty="0" err="1">
                <a:solidFill>
                  <a:srgbClr val="A8C4E8"/>
                </a:solidFill>
              </a:rPr>
              <a:t>giây</a:t>
            </a:r>
            <a:endParaRPr sz="1200" b="0" dirty="0">
              <a:solidFill>
                <a:srgbClr val="A8C4E8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0" y="2926080"/>
            <a:ext cx="2651760" cy="338328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144000" y="2926080"/>
            <a:ext cx="2651760" cy="91440"/>
          </a:xfrm>
          <a:prstGeom prst="rect">
            <a:avLst/>
          </a:prstGeom>
          <a:solidFill>
            <a:srgbClr val="D02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35440" y="3063240"/>
            <a:ext cx="2468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0212D"/>
                </a:solidFill>
              </a:rPr>
              <a:t>Báo cáo</a:t>
            </a:r>
          </a:p>
          <a:p>
            <a:pPr algn="ctr"/>
            <a:endParaRPr sz="1300" b="1">
              <a:solidFill>
                <a:srgbClr val="D0212D"/>
              </a:solidFill>
            </a:endParaRPr>
          </a:p>
          <a:p>
            <a:pPr algn="ctr"/>
            <a:r>
              <a:rPr sz="1500" b="1">
                <a:solidFill>
                  <a:srgbClr val="FFFFFF"/>
                </a:solidFill>
              </a:rPr>
              <a:t>Báo cáo
minh bạch</a:t>
            </a:r>
          </a:p>
          <a:p>
            <a:pPr algn="ctr"/>
            <a:endParaRPr sz="1500" b="1">
              <a:solidFill>
                <a:srgbClr val="FFFFFF"/>
              </a:solidFill>
            </a:endParaRPr>
          </a:p>
          <a:p>
            <a:pPr algn="ctr"/>
            <a:r>
              <a:rPr sz="1200" b="0">
                <a:solidFill>
                  <a:srgbClr val="A8C4E8"/>
                </a:solidFill>
              </a:rPr>
              <a:t>Điểm sức khỏe
rõ ràng &amp; tin cậy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02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0212D"/>
                </a:solidFill>
              </a:rPr>
              <a:t>3 TÍNH NĂNG CỐT LÕI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A1A2E"/>
                </a:solidFill>
              </a:rPr>
              <a:t>VFCare làm được ngay hôm nay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4712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09728" cy="1600200"/>
          </a:xfrm>
          <a:prstGeom prst="rect">
            <a:avLst/>
          </a:prstGeom>
          <a:solidFill>
            <a:srgbClr val="D02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435607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🔍  Chẩn đoán sức khỏe xe trong 3 giây</a:t>
            </a:r>
          </a:p>
          <a:p>
            <a:pPr algn="l"/>
            <a:endParaRPr sz="1500" b="1">
              <a:solidFill>
                <a:srgbClr val="1A1A2E"/>
              </a:solidFill>
            </a:endParaRPr>
          </a:p>
          <a:p>
            <a:pPr algn="l"/>
            <a:r>
              <a:rPr sz="1100" b="0">
                <a:solidFill>
                  <a:srgbClr val="6B7C93"/>
                </a:solidFill>
              </a:rPr>
              <a:t>Chỉ cần mở app — AI lập tức đọc dữ liệu cảm biến, cho bạn biết chính xác hệ thống nào đang tốt, hệ thống nào cần chú ý — kèm điểm sức khỏe tổng hợp minh bạch.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1828800"/>
            <a:ext cx="320040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0" y="184708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3"/>
                </a:solidFill>
              </a:rPr>
              <a:t>Pin · Motor · Phanh · Điều hòa · Lốp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63239"/>
            <a:ext cx="1124712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3063239"/>
            <a:ext cx="109728" cy="1600200"/>
          </a:xfrm>
          <a:prstGeom prst="rect">
            <a:avLst/>
          </a:prstGeom>
          <a:solidFill>
            <a:srgbClr val="D02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172968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📅  Đặt lịch bảo dưỡng thông minh, không cần gọi điện</a:t>
            </a:r>
          </a:p>
          <a:p>
            <a:pPr algn="l"/>
            <a:endParaRPr sz="1500" b="1">
              <a:solidFill>
                <a:srgbClr val="1A1A2E"/>
              </a:solidFill>
            </a:endParaRPr>
          </a:p>
          <a:p>
            <a:pPr algn="l"/>
            <a:r>
              <a:rPr sz="1100" b="0">
                <a:solidFill>
                  <a:srgbClr val="6B7C93"/>
                </a:solidFill>
              </a:rPr>
              <a:t>VFCare tự động tìm xưởng VinFast gần nhất còn trống lịch, đề xuất 3 lựa chọn phù hợp nhất — bạn chỉ việc bấm một nút. Toàn bộ quy trình trong dưới 60 giây.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3566159"/>
            <a:ext cx="320040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3584447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3"/>
                </a:solidFill>
              </a:rPr>
              <a:t>Slot thời gian thực · Đặt lịch 2 chiều · QR check-in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800600"/>
            <a:ext cx="1124712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4800600"/>
            <a:ext cx="109728" cy="1600200"/>
          </a:xfrm>
          <a:prstGeom prst="rect">
            <a:avLst/>
          </a:prstGeom>
          <a:solidFill>
            <a:srgbClr val="D02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4910328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⏱️  Tiết kiệm hàng giờ mỗi lần bảo dưỡng</a:t>
            </a:r>
          </a:p>
          <a:p>
            <a:pPr algn="l"/>
            <a:endParaRPr sz="1500" b="1">
              <a:solidFill>
                <a:srgbClr val="1A1A2E"/>
              </a:solidFill>
            </a:endParaRPr>
          </a:p>
          <a:p>
            <a:pPr algn="l"/>
            <a:r>
              <a:rPr sz="1100" b="0">
                <a:solidFill>
                  <a:srgbClr val="6B7C93"/>
                </a:solidFill>
              </a:rPr>
              <a:t>Từ lúc phát hiện vấn đề đến khi lịch hẹn được xác nhận — tất cả diễn ra ngay trên màn hình. Không xếp hàng. Không chờ máy. Không lãng phí thời gian quý báu của bạn.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5303520"/>
            <a:ext cx="320040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532180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3"/>
                </a:solidFill>
              </a:rPr>
              <a:t>Tiết kiệm trung bình: 2,5 giờ / lần bảo dưỡng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02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0212D"/>
                </a:solidFill>
              </a:rPr>
              <a:t>ĐỐI TƯỢNG &amp; TÁC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Dành cho những chủ xe VinFast hiện đại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C4E8"/>
                </a:solidFill>
              </a:rPr>
              <a:t>Người coi thời gian là tài sản, và xe là người bạn đồng hành đáng tin cậy trên mọi hành trình.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2560320" cy="219456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2560320" cy="82296"/>
          </a:xfrm>
          <a:prstGeom prst="rect">
            <a:avLst/>
          </a:prstGeom>
          <a:solidFill>
            <a:srgbClr val="D02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19" y="2057400"/>
            <a:ext cx="237744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D0212D"/>
                </a:solidFill>
              </a:rPr>
              <a:t>~70</a:t>
            </a:r>
            <a:r>
              <a:rPr sz="4000" b="1" dirty="0">
                <a:solidFill>
                  <a:srgbClr val="D0212D"/>
                </a:solidFill>
              </a:rPr>
              <a:t>%</a:t>
            </a:r>
          </a:p>
          <a:p>
            <a:pPr algn="ctr"/>
            <a:endParaRPr sz="4000" b="1" dirty="0">
              <a:solidFill>
                <a:srgbClr val="D0212D"/>
              </a:solidFill>
            </a:endParaRPr>
          </a:p>
          <a:p>
            <a:pPr algn="ctr"/>
            <a:r>
              <a:rPr sz="1200" b="0" dirty="0" err="1">
                <a:solidFill>
                  <a:srgbClr val="A8C4E8"/>
                </a:solidFill>
              </a:rPr>
              <a:t>sự</a:t>
            </a:r>
            <a:r>
              <a:rPr sz="1200" b="0" dirty="0">
                <a:solidFill>
                  <a:srgbClr val="A8C4E8"/>
                </a:solidFill>
              </a:rPr>
              <a:t> </a:t>
            </a:r>
            <a:r>
              <a:rPr sz="1200" b="0" dirty="0" err="1">
                <a:solidFill>
                  <a:srgbClr val="A8C4E8"/>
                </a:solidFill>
              </a:rPr>
              <a:t>cố</a:t>
            </a:r>
            <a:r>
              <a:rPr sz="1200" b="0" dirty="0">
                <a:solidFill>
                  <a:srgbClr val="A8C4E8"/>
                </a:solidFill>
              </a:rPr>
              <a:t> </a:t>
            </a:r>
            <a:r>
              <a:rPr sz="1200" b="0" dirty="0" err="1">
                <a:solidFill>
                  <a:srgbClr val="A8C4E8"/>
                </a:solidFill>
              </a:rPr>
              <a:t>có</a:t>
            </a:r>
            <a:r>
              <a:rPr sz="1200" b="0" dirty="0">
                <a:solidFill>
                  <a:srgbClr val="A8C4E8"/>
                </a:solidFill>
              </a:rPr>
              <a:t> </a:t>
            </a:r>
            <a:r>
              <a:rPr sz="1200" b="0" dirty="0" err="1">
                <a:solidFill>
                  <a:srgbClr val="A8C4E8"/>
                </a:solidFill>
              </a:rPr>
              <a:t>thể</a:t>
            </a:r>
            <a:r>
              <a:rPr sz="1200" b="0" dirty="0">
                <a:solidFill>
                  <a:srgbClr val="A8C4E8"/>
                </a:solidFill>
              </a:rPr>
              <a:t>
</a:t>
            </a:r>
            <a:r>
              <a:rPr sz="1200" b="0" dirty="0" err="1">
                <a:solidFill>
                  <a:srgbClr val="A8C4E8"/>
                </a:solidFill>
              </a:rPr>
              <a:t>dự</a:t>
            </a:r>
            <a:r>
              <a:rPr sz="1200" b="0" dirty="0">
                <a:solidFill>
                  <a:srgbClr val="A8C4E8"/>
                </a:solidFill>
              </a:rPr>
              <a:t> </a:t>
            </a:r>
            <a:r>
              <a:rPr sz="1200" b="0" dirty="0" err="1">
                <a:solidFill>
                  <a:srgbClr val="A8C4E8"/>
                </a:solidFill>
              </a:rPr>
              <a:t>báo</a:t>
            </a:r>
            <a:r>
              <a:rPr sz="1200" b="0" dirty="0">
                <a:solidFill>
                  <a:srgbClr val="A8C4E8"/>
                </a:solidFill>
              </a:rPr>
              <a:t> </a:t>
            </a:r>
            <a:r>
              <a:rPr sz="1200" b="0" dirty="0" err="1">
                <a:solidFill>
                  <a:srgbClr val="A8C4E8"/>
                </a:solidFill>
              </a:rPr>
              <a:t>trước</a:t>
            </a:r>
            <a:endParaRPr sz="1200" b="0" dirty="0">
              <a:solidFill>
                <a:srgbClr val="A8C4E8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474720" y="1965960"/>
            <a:ext cx="2560320" cy="219456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74720" y="1965960"/>
            <a:ext cx="2560320" cy="82296"/>
          </a:xfrm>
          <a:prstGeom prst="rect">
            <a:avLst/>
          </a:prstGeom>
          <a:solidFill>
            <a:srgbClr val="D02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66160" y="205740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D0212D"/>
                </a:solidFill>
              </a:rPr>
              <a:t>2,5h</a:t>
            </a:r>
          </a:p>
          <a:p>
            <a:pPr algn="ctr"/>
            <a:endParaRPr sz="4000" b="1">
              <a:solidFill>
                <a:srgbClr val="D0212D"/>
              </a:solidFill>
            </a:endParaRPr>
          </a:p>
          <a:p>
            <a:pPr algn="ctr"/>
            <a:r>
              <a:rPr sz="1200" b="0">
                <a:solidFill>
                  <a:srgbClr val="A8C4E8"/>
                </a:solidFill>
              </a:rPr>
              <a:t>tiết kiệm
mỗi lần bảo dưỡng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965960"/>
            <a:ext cx="2560320" cy="219456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965960"/>
            <a:ext cx="2560320" cy="82296"/>
          </a:xfrm>
          <a:prstGeom prst="rect">
            <a:avLst/>
          </a:prstGeom>
          <a:solidFill>
            <a:srgbClr val="D02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205740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D0212D"/>
                </a:solidFill>
              </a:rPr>
              <a:t>60s</a:t>
            </a:r>
          </a:p>
          <a:p>
            <a:pPr algn="ctr"/>
            <a:endParaRPr sz="4000" b="1">
              <a:solidFill>
                <a:srgbClr val="D0212D"/>
              </a:solidFill>
            </a:endParaRPr>
          </a:p>
          <a:p>
            <a:pPr algn="ctr"/>
            <a:r>
              <a:rPr sz="1200" b="0">
                <a:solidFill>
                  <a:srgbClr val="A8C4E8"/>
                </a:solidFill>
              </a:rPr>
              <a:t>hoàn tất
đặt lịch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965960"/>
            <a:ext cx="2560320" cy="219456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144000" y="1965960"/>
            <a:ext cx="2560320" cy="82296"/>
          </a:xfrm>
          <a:prstGeom prst="rect">
            <a:avLst/>
          </a:prstGeom>
          <a:solidFill>
            <a:srgbClr val="D02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35440" y="205740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D0212D"/>
                </a:solidFill>
              </a:rPr>
              <a:t>3s</a:t>
            </a:r>
          </a:p>
          <a:p>
            <a:pPr algn="ctr"/>
            <a:endParaRPr sz="4000" b="1">
              <a:solidFill>
                <a:srgbClr val="D0212D"/>
              </a:solidFill>
            </a:endParaRPr>
          </a:p>
          <a:p>
            <a:pPr algn="ctr"/>
            <a:r>
              <a:rPr sz="1200" b="0">
                <a:solidFill>
                  <a:srgbClr val="A8C4E8"/>
                </a:solidFill>
              </a:rPr>
              <a:t>chẩn đoán
sức khỏe xe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434840"/>
            <a:ext cx="11064240" cy="178308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4434840"/>
            <a:ext cx="118872" cy="1783080"/>
          </a:xfrm>
          <a:prstGeom prst="rect">
            <a:avLst/>
          </a:prstGeom>
          <a:solidFill>
            <a:srgbClr val="D02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4526280"/>
            <a:ext cx="10332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0212D"/>
                </a:solidFill>
              </a:rPr>
              <a:t>💰  Tiềm năng kinh tế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Thận trọng: ~$25.800/năm  ·  Thực tế: ~$190.500/năm  ·  Lạc quan: ~$877.800/năm</a:t>
            </a:r>
          </a:p>
          <a:p>
            <a:pPr algn="l"/>
            <a:r>
              <a:rPr sz="1100" b="0">
                <a:solidFill>
                  <a:srgbClr val="6B7C93"/>
                </a:solidFill>
              </a:rPr>
              <a:t>Tính trên 500 xe VinFast sử dụng VFCare tại Hà Nội &amp; TP. Hồ Chí Minh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D02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0212D"/>
                </a:solidFill>
              </a:rPr>
              <a:t>VINFAST ×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dirty="0" err="1">
                <a:solidFill>
                  <a:srgbClr val="FFFFFF"/>
                </a:solidFill>
              </a:rPr>
              <a:t>VFCare</a:t>
            </a:r>
            <a:endParaRPr sz="5800" b="1" dirty="0">
              <a:solidFill>
                <a:srgbClr val="FFFFFF"/>
              </a:solidFill>
            </a:endParaRPr>
          </a:p>
          <a:p>
            <a:pPr algn="l"/>
            <a:endParaRPr sz="5800" b="1" dirty="0">
              <a:solidFill>
                <a:srgbClr val="FFFFFF"/>
              </a:solidFill>
            </a:endParaRPr>
          </a:p>
          <a:p>
            <a:pPr algn="l"/>
            <a:r>
              <a:rPr sz="1900" b="0" dirty="0" err="1">
                <a:solidFill>
                  <a:srgbClr val="A8C4E8"/>
                </a:solidFill>
              </a:rPr>
              <a:t>Không</a:t>
            </a:r>
            <a:r>
              <a:rPr sz="1900" b="0" dirty="0">
                <a:solidFill>
                  <a:srgbClr val="A8C4E8"/>
                </a:solidFill>
              </a:rPr>
              <a:t> </a:t>
            </a:r>
            <a:r>
              <a:rPr sz="1900" b="0" dirty="0" err="1">
                <a:solidFill>
                  <a:srgbClr val="A8C4E8"/>
                </a:solidFill>
              </a:rPr>
              <a:t>chỉ</a:t>
            </a:r>
            <a:r>
              <a:rPr sz="1900" b="0" dirty="0">
                <a:solidFill>
                  <a:srgbClr val="A8C4E8"/>
                </a:solidFill>
              </a:rPr>
              <a:t> </a:t>
            </a:r>
            <a:r>
              <a:rPr sz="1900" b="0" dirty="0" err="1">
                <a:solidFill>
                  <a:srgbClr val="A8C4E8"/>
                </a:solidFill>
              </a:rPr>
              <a:t>là</a:t>
            </a:r>
            <a:r>
              <a:rPr sz="1900" b="0" dirty="0">
                <a:solidFill>
                  <a:srgbClr val="A8C4E8"/>
                </a:solidFill>
              </a:rPr>
              <a:t> </a:t>
            </a:r>
            <a:r>
              <a:rPr sz="1900" b="0" dirty="0" err="1">
                <a:solidFill>
                  <a:srgbClr val="A8C4E8"/>
                </a:solidFill>
              </a:rPr>
              <a:t>ứng</a:t>
            </a:r>
            <a:r>
              <a:rPr sz="1900" b="0" dirty="0">
                <a:solidFill>
                  <a:srgbClr val="A8C4E8"/>
                </a:solidFill>
              </a:rPr>
              <a:t> </a:t>
            </a:r>
            <a:r>
              <a:rPr sz="1900" b="0" dirty="0" err="1">
                <a:solidFill>
                  <a:srgbClr val="A8C4E8"/>
                </a:solidFill>
              </a:rPr>
              <a:t>dụng</a:t>
            </a:r>
            <a:r>
              <a:rPr sz="1900" b="0" dirty="0">
                <a:solidFill>
                  <a:srgbClr val="A8C4E8"/>
                </a:solidFill>
              </a:rPr>
              <a:t>.</a:t>
            </a:r>
          </a:p>
          <a:p>
            <a:pPr algn="l"/>
            <a:r>
              <a:rPr sz="1900" b="1" dirty="0" err="1">
                <a:solidFill>
                  <a:srgbClr val="FFFFFF"/>
                </a:solidFill>
              </a:rPr>
              <a:t>Đây</a:t>
            </a:r>
            <a:r>
              <a:rPr sz="1900" b="1" dirty="0">
                <a:solidFill>
                  <a:srgbClr val="FFFFFF"/>
                </a:solidFill>
              </a:rPr>
              <a:t> </a:t>
            </a:r>
            <a:r>
              <a:rPr sz="1900" b="1" dirty="0" err="1">
                <a:solidFill>
                  <a:srgbClr val="FFFFFF"/>
                </a:solidFill>
              </a:rPr>
              <a:t>là</a:t>
            </a:r>
            <a:r>
              <a:rPr sz="1900" b="1" dirty="0">
                <a:solidFill>
                  <a:srgbClr val="FFFFFF"/>
                </a:solidFill>
              </a:rPr>
              <a:t> </a:t>
            </a:r>
            <a:r>
              <a:rPr sz="1900" b="1" dirty="0" err="1">
                <a:solidFill>
                  <a:srgbClr val="FFFFFF"/>
                </a:solidFill>
              </a:rPr>
              <a:t>chuẩn</a:t>
            </a:r>
            <a:r>
              <a:rPr sz="1900" b="1" dirty="0">
                <a:solidFill>
                  <a:srgbClr val="FFFFFF"/>
                </a:solidFill>
              </a:rPr>
              <a:t> </a:t>
            </a:r>
            <a:r>
              <a:rPr sz="1900" b="1" dirty="0" err="1">
                <a:solidFill>
                  <a:srgbClr val="FFFFFF"/>
                </a:solidFill>
              </a:rPr>
              <a:t>mực</a:t>
            </a:r>
            <a:r>
              <a:rPr sz="1900" b="1" dirty="0">
                <a:solidFill>
                  <a:srgbClr val="FFFFFF"/>
                </a:solidFill>
              </a:rPr>
              <a:t> </a:t>
            </a:r>
            <a:r>
              <a:rPr sz="1900" b="1" dirty="0" err="1">
                <a:solidFill>
                  <a:srgbClr val="FFFFFF"/>
                </a:solidFill>
              </a:rPr>
              <a:t>mới</a:t>
            </a:r>
            <a:r>
              <a:rPr sz="1900" b="1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862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C4E8"/>
                </a:solidFill>
              </a:rPr>
              <a:t>Sắp ra mắt trên VinFast Connect 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663440"/>
            <a:ext cx="3931920" cy="685800"/>
          </a:xfrm>
          <a:prstGeom prst="rect">
            <a:avLst/>
          </a:prstGeom>
          <a:solidFill>
            <a:srgbClr val="D02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470916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Đăng ký trải nghiệm sớm 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532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C93"/>
                </a:solidFill>
              </a:rPr>
              <a:t>vinfast.vn/vfcare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502920"/>
            <a:ext cx="548640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Tại sao VFCare?</a:t>
            </a:r>
          </a:p>
          <a:p>
            <a:pPr algn="l"/>
            <a:endParaRPr sz="2000" b="1">
              <a:solidFill>
                <a:srgbClr val="FFFFFF"/>
              </a:solidFill>
            </a:endParaRPr>
          </a:p>
          <a:p>
            <a:pPr algn="l"/>
            <a:r>
              <a:rPr sz="1300" b="0">
                <a:solidFill>
                  <a:srgbClr val="A8C4E8"/>
                </a:solidFill>
              </a:rPr>
              <a:t>✅  AI phân tích hàng nghìn điểm cảm biến</a:t>
            </a:r>
          </a:p>
          <a:p>
            <a:pPr algn="l"/>
            <a:r>
              <a:rPr sz="1300" b="0">
                <a:solidFill>
                  <a:srgbClr val="A8C4E8"/>
                </a:solidFill>
              </a:rPr>
              <a:t>✅  Cảnh báo trước khi sự cố xảy ra</a:t>
            </a:r>
          </a:p>
          <a:p>
            <a:pPr algn="l"/>
            <a:r>
              <a:rPr sz="1300" b="0">
                <a:solidFill>
                  <a:srgbClr val="A8C4E8"/>
                </a:solidFill>
              </a:rPr>
              <a:t>✅  Đặt lịch xưởng gần nhất trong 60 giây</a:t>
            </a:r>
          </a:p>
          <a:p>
            <a:pPr algn="l"/>
            <a:r>
              <a:rPr sz="1300" b="0">
                <a:solidFill>
                  <a:srgbClr val="A8C4E8"/>
                </a:solidFill>
              </a:rPr>
              <a:t>✅  Tiết kiệm 2,5 giờ mỗi lần bảo dưỡng</a:t>
            </a:r>
          </a:p>
          <a:p>
            <a:pPr algn="l"/>
            <a:r>
              <a:rPr sz="1300" b="0">
                <a:solidFill>
                  <a:srgbClr val="A8C4E8"/>
                </a:solidFill>
              </a:rPr>
              <a:t>✅  Augmentation AI — bạn luôn là người quyết định</a:t>
            </a:r>
          </a:p>
          <a:p>
            <a:pPr algn="l"/>
            <a:endParaRPr sz="1300" b="0">
              <a:solidFill>
                <a:srgbClr val="A8C4E8"/>
              </a:solidFill>
            </a:endParaRPr>
          </a:p>
          <a:p>
            <a:pPr algn="l"/>
            <a:r>
              <a:rPr sz="1100" b="0">
                <a:solidFill>
                  <a:srgbClr val="6B7C93"/>
                </a:solidFill>
              </a:rPr>
              <a:t>Nhóm B1-C401 · VinUni · AI Thực Chiến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698</Words>
  <Application>Microsoft Office PowerPoint</Application>
  <PresentationFormat>Custom</PresentationFormat>
  <Paragraphs>105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Hua Quang Linh (S.AI.20K)</cp:lastModifiedBy>
  <cp:revision>3</cp:revision>
  <dcterms:created xsi:type="dcterms:W3CDTF">2013-01-27T09:14:16Z</dcterms:created>
  <dcterms:modified xsi:type="dcterms:W3CDTF">2026-04-09T10:46:32Z</dcterms:modified>
  <cp:category/>
</cp:coreProperties>
</file>